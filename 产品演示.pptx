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8E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8650"/>
            <a:ext cx="1219200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覆写：故事新编</a:t>
            </a:r>
            <a:endParaRPr sz="42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638300"/>
            <a:ext cx="12192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 spc="24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OVERWRITING: ANOTHER CHOICE</a:t>
            </a:r>
            <a:endParaRPr sz="1350" b="0" spc="24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48250" y="2076450"/>
            <a:ext cx="2095500" cy="0"/>
          </a:xfrm>
          <a:prstGeom prst="line">
            <a:avLst/>
          </a:prstGeom>
          <a:ln w="9525">
            <a:solidFill>
              <a:srgbClr val="AC8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2247900"/>
            <a:ext cx="12192000" cy="3238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spc="17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原作仍在，你的选择正在发生。</a:t>
            </a:r>
            <a:endParaRPr sz="1400" b="0" spc="17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7" name="Picture 6" descr="magic-book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2743200"/>
            <a:ext cx="4953000" cy="3302000"/>
          </a:xfrm>
          <a:prstGeom prst="rect">
            <a:avLst/>
          </a:prstGeom>
        </p:spPr>
      </p:pic>
      <p:pic>
        <p:nvPicPr>
          <p:cNvPr id="8" name="Picture 7" descr="quill-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28750" y="990599"/>
            <a:ext cx="8572500" cy="1238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一本书读完以后，</a:t>
            </a:r>
            <a:endParaRPr sz="33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33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真正留下来的是什么？</a:t>
            </a:r>
            <a:endParaRPr sz="33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428750" y="2495550"/>
            <a:ext cx="609599" cy="0"/>
          </a:xfrm>
          <a:prstGeom prst="line">
            <a:avLst/>
          </a:prstGeom>
          <a:ln w="19050">
            <a:solidFill>
              <a:srgbClr val="E0B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28750" y="3114675"/>
            <a:ext cx="419100" cy="0"/>
          </a:xfrm>
          <a:prstGeom prst="line">
            <a:avLst/>
          </a:prstGeom>
          <a:ln w="12700">
            <a:solidFill>
              <a:srgbClr val="AC8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76450" y="2914650"/>
            <a:ext cx="76200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划线，</a:t>
            </a:r>
            <a:r>
              <a:rPr sz="13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  散落在页边。</a:t>
            </a:r>
            <a:endParaRPr sz="13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428750" y="3800475"/>
            <a:ext cx="419100" cy="0"/>
          </a:xfrm>
          <a:prstGeom prst="line">
            <a:avLst/>
          </a:prstGeom>
          <a:ln w="12700">
            <a:solidFill>
              <a:srgbClr val="AC8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76450" y="3600450"/>
            <a:ext cx="76200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摘抄，</a:t>
            </a:r>
            <a:r>
              <a:rPr sz="13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  停在某个瞬间。</a:t>
            </a:r>
            <a:endParaRPr sz="13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428750" y="4486275"/>
            <a:ext cx="419100" cy="0"/>
          </a:xfrm>
          <a:prstGeom prst="line">
            <a:avLst/>
          </a:prstGeom>
          <a:ln w="12700">
            <a:solidFill>
              <a:srgbClr val="AC8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76450" y="4286250"/>
            <a:ext cx="76200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批注，</a:t>
            </a:r>
            <a:r>
              <a:rPr sz="13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  很快被合上的书页盖住。</a:t>
            </a:r>
            <a:endParaRPr sz="13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28750" y="5219700"/>
            <a:ext cx="9334500" cy="476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我们记住了作者的故事，</a:t>
            </a:r>
            <a:r>
              <a:rPr sz="2000" b="1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却很少留下自己的版本。</a:t>
            </a:r>
            <a:endParaRPr sz="2000" b="1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12" name="Picture 11" descr="quill-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866899"/>
            <a:ext cx="9906000" cy="2095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34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如果读完一本书，</a:t>
            </a:r>
            <a:endParaRPr sz="34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ctr">
              <a:lnSpc>
                <a:spcPct val="155000"/>
              </a:lnSpc>
            </a:pPr>
            <a:r>
              <a:rPr sz="34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你不只是读者，</a:t>
            </a:r>
            <a:endParaRPr sz="34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ctr">
              <a:lnSpc>
                <a:spcPct val="155000"/>
              </a:lnSpc>
            </a:pPr>
            <a:r>
              <a:rPr sz="34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而是可以留下自己的版本？</a:t>
            </a:r>
            <a:endParaRPr sz="34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305300"/>
            <a:ext cx="12192000" cy="41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我们把这个过程，叫做 </a:t>
            </a:r>
            <a:r>
              <a:rPr sz="1900" b="1" spc="14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「覆写」</a:t>
            </a:r>
            <a:endParaRPr sz="1900" b="1" spc="14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5" name="Picture 4" descr="quill-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952500"/>
            <a:ext cx="10287000" cy="6286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不是改写原作，而是在原作旁边留下自己</a:t>
            </a:r>
            <a:endParaRPr sz="33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952500" y="1695450"/>
            <a:ext cx="609600" cy="0"/>
          </a:xfrm>
          <a:prstGeom prst="line">
            <a:avLst/>
          </a:prstGeom>
          <a:ln w="19050">
            <a:solidFill>
              <a:srgbClr val="E0B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47749" y="2162175"/>
            <a:ext cx="1905000" cy="895350"/>
          </a:xfrm>
          <a:prstGeom prst="rect">
            <a:avLst/>
          </a:prstGeom>
          <a:solidFill>
            <a:srgbClr val="0F182B"/>
          </a:solidFill>
          <a:ln w="9525">
            <a:solidFill>
              <a:srgbClr val="6B5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作者</a:t>
            </a:r>
            <a:endParaRPr sz="17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创造原作</a:t>
            </a:r>
            <a:endParaRPr sz="10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124200" y="2609850"/>
            <a:ext cx="5753100" cy="0"/>
          </a:xfrm>
          <a:prstGeom prst="line">
            <a:avLst/>
          </a:prstGeom>
          <a:ln w="12700">
            <a:solidFill>
              <a:srgbClr val="AC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048750" y="2162175"/>
            <a:ext cx="1905000" cy="895350"/>
          </a:xfrm>
          <a:prstGeom prst="rect">
            <a:avLst/>
          </a:prstGeom>
          <a:solidFill>
            <a:srgbClr val="0F182B"/>
          </a:solidFill>
          <a:ln w="9525">
            <a:solidFill>
              <a:srgbClr val="6B5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原作</a:t>
            </a:r>
            <a:endParaRPr sz="17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始终不变</a:t>
            </a:r>
            <a:endParaRPr sz="10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 flipV="1">
            <a:off x="10001250" y="3143250"/>
            <a:ext cx="0" cy="533399"/>
          </a:xfrm>
          <a:prstGeom prst="line">
            <a:avLst/>
          </a:prstGeom>
          <a:ln w="12700">
            <a:solidFill>
              <a:srgbClr val="AC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193020" y="3216275"/>
            <a:ext cx="1143000" cy="339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spc="85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回应</a:t>
            </a:r>
            <a:endParaRPr sz="1200" b="1" spc="85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47749" y="3762374"/>
            <a:ext cx="1905000" cy="895350"/>
          </a:xfrm>
          <a:prstGeom prst="rect">
            <a:avLst/>
          </a:prstGeom>
          <a:solidFill>
            <a:srgbClr val="0F182B"/>
          </a:solidFill>
          <a:ln w="9525">
            <a:solidFill>
              <a:srgbClr val="6B5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读者</a:t>
            </a:r>
            <a:endParaRPr sz="17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阅读 · 思考 · 回应</a:t>
            </a:r>
            <a:endParaRPr sz="10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124200" y="4210050"/>
            <a:ext cx="2209800" cy="0"/>
          </a:xfrm>
          <a:prstGeom prst="line">
            <a:avLst/>
          </a:prstGeom>
          <a:ln w="12700">
            <a:solidFill>
              <a:srgbClr val="AC8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34000" y="3987800"/>
            <a:ext cx="1333500" cy="4438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留下铭文</a:t>
            </a:r>
            <a:endParaRPr sz="1050" b="0" spc="55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667500" y="4210050"/>
            <a:ext cx="2209800" cy="0"/>
          </a:xfrm>
          <a:prstGeom prst="line">
            <a:avLst/>
          </a:prstGeom>
          <a:ln w="12700">
            <a:solidFill>
              <a:srgbClr val="AC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048750" y="3762374"/>
            <a:ext cx="1905000" cy="895350"/>
          </a:xfrm>
          <a:prstGeom prst="rect">
            <a:avLst/>
          </a:prstGeom>
          <a:solidFill>
            <a:srgbClr val="0F182B"/>
          </a:solidFill>
          <a:ln w="13970">
            <a:solidFill>
              <a:srgbClr val="AC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覆写版本</a:t>
            </a:r>
            <a:endParaRPr sz="1700" b="1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属于读者的秘典</a:t>
            </a:r>
            <a:endParaRPr sz="10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0" y="5191125"/>
            <a:ext cx="12192000" cy="41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原作不被改变，改变的是</a:t>
            </a:r>
            <a:r>
              <a:rPr sz="1500" b="0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「读者与原作的关系」</a:t>
            </a:r>
            <a:r>
              <a:rPr sz="15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。</a:t>
            </a:r>
            <a:endParaRPr sz="15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16" name="Picture 15" descr="quill-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990599"/>
            <a:ext cx="10744200" cy="6286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从读者，到「覆写者」</a:t>
            </a:r>
            <a:endParaRPr sz="33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23900" y="1733550"/>
            <a:ext cx="609600" cy="0"/>
          </a:xfrm>
          <a:prstGeom prst="line">
            <a:avLst/>
          </a:prstGeom>
          <a:ln w="19050">
            <a:solidFill>
              <a:srgbClr val="E0B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90650" y="2867025"/>
            <a:ext cx="9410700" cy="0"/>
          </a:xfrm>
          <a:prstGeom prst="line">
            <a:avLst/>
          </a:prstGeom>
          <a:ln w="9525">
            <a:solidFill>
              <a:srgbClr val="AC8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90625" y="2590800"/>
            <a:ext cx="552450" cy="552450"/>
          </a:xfrm>
          <a:prstGeom prst="ellipse">
            <a:avLst/>
          </a:prstGeom>
          <a:solidFill>
            <a:srgbClr val="0F182B"/>
          </a:solidFill>
          <a:ln w="9525">
            <a:solidFill>
              <a:srgbClr val="6B5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i</a:t>
            </a:r>
            <a:endParaRPr sz="13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4850" y="3333750"/>
            <a:ext cx="1524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进入秘典</a:t>
            </a:r>
            <a:endParaRPr sz="16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850" y="3695700"/>
            <a:ext cx="152400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翻开一部作品</a:t>
            </a:r>
            <a:endParaRPr sz="10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2733675" y="2590800"/>
            <a:ext cx="552450" cy="552450"/>
          </a:xfrm>
          <a:prstGeom prst="ellipse">
            <a:avLst/>
          </a:prstGeom>
          <a:solidFill>
            <a:srgbClr val="0F182B"/>
          </a:solidFill>
          <a:ln w="9525">
            <a:solidFill>
              <a:srgbClr val="6B5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ii</a:t>
            </a:r>
            <a:endParaRPr sz="13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3333750"/>
            <a:ext cx="1524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阅读原文</a:t>
            </a:r>
            <a:endParaRPr sz="16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47900" y="3695700"/>
            <a:ext cx="152400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沉浸式深夜阅读</a:t>
            </a:r>
            <a:endParaRPr sz="10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76725" y="2590800"/>
            <a:ext cx="552450" cy="552450"/>
          </a:xfrm>
          <a:prstGeom prst="ellipse">
            <a:avLst/>
          </a:prstGeom>
          <a:solidFill>
            <a:srgbClr val="0F182B"/>
          </a:solidFill>
          <a:ln w="9525">
            <a:solidFill>
              <a:srgbClr val="6B5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iii</a:t>
            </a:r>
            <a:endParaRPr sz="13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90949" y="3333750"/>
            <a:ext cx="1524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留下铭文</a:t>
            </a:r>
            <a:endParaRPr sz="16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90949" y="3695700"/>
            <a:ext cx="152400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四类回应随时落笔</a:t>
            </a:r>
            <a:endParaRPr sz="10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819775" y="2590800"/>
            <a:ext cx="552450" cy="552450"/>
          </a:xfrm>
          <a:prstGeom prst="ellipse">
            <a:avLst/>
          </a:prstGeom>
          <a:solidFill>
            <a:srgbClr val="0F182B"/>
          </a:solidFill>
          <a:ln w="9525">
            <a:solidFill>
              <a:srgbClr val="6B5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iv</a:t>
            </a:r>
            <a:endParaRPr sz="13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34000" y="3333750"/>
            <a:ext cx="1524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点亮契印</a:t>
            </a:r>
            <a:endParaRPr sz="16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34000" y="3695700"/>
            <a:ext cx="152400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思考轨迹成形</a:t>
            </a:r>
            <a:endParaRPr sz="10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362825" y="2590800"/>
            <a:ext cx="552450" cy="552450"/>
          </a:xfrm>
          <a:prstGeom prst="ellipse">
            <a:avLst/>
          </a:prstGeom>
          <a:solidFill>
            <a:srgbClr val="0F182B"/>
          </a:solidFill>
          <a:ln w="9525">
            <a:solidFill>
              <a:srgbClr val="6B5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v</a:t>
            </a:r>
            <a:endParaRPr sz="13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77050" y="3333750"/>
            <a:ext cx="1524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读者终章</a:t>
            </a:r>
            <a:endParaRPr sz="16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77050" y="3695700"/>
            <a:ext cx="152400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回望阅读旅程</a:t>
            </a:r>
            <a:endParaRPr sz="10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905875" y="2590800"/>
            <a:ext cx="552450" cy="552450"/>
          </a:xfrm>
          <a:prstGeom prst="ellipse">
            <a:avLst/>
          </a:prstGeom>
          <a:solidFill>
            <a:srgbClr val="0F182B"/>
          </a:solidFill>
          <a:ln w="13970">
            <a:solidFill>
              <a:srgbClr val="AC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vi</a:t>
            </a:r>
            <a:endParaRPr sz="1350" b="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20100" y="3333750"/>
            <a:ext cx="1524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契名仪式</a:t>
            </a:r>
            <a:endParaRPr sz="1650" b="1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20100" y="3695700"/>
            <a:ext cx="152400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在扉页郑重署名</a:t>
            </a:r>
            <a:endParaRPr sz="10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448925" y="2590800"/>
            <a:ext cx="552450" cy="552450"/>
          </a:xfrm>
          <a:prstGeom prst="ellipse">
            <a:avLst/>
          </a:prstGeom>
          <a:solidFill>
            <a:srgbClr val="0F182B"/>
          </a:solidFill>
          <a:ln w="9525">
            <a:solidFill>
              <a:srgbClr val="6B5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vii</a:t>
            </a:r>
            <a:endParaRPr sz="13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63150" y="3333750"/>
            <a:ext cx="1524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个人秘典</a:t>
            </a:r>
            <a:endParaRPr sz="16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63150" y="3695700"/>
            <a:ext cx="152400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属于自己的版本</a:t>
            </a:r>
            <a:endParaRPr sz="10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0" y="4724400"/>
            <a:ext cx="12192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spc="55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每一步都真实可操作——从翻开原文，到把名字留在封面。</a:t>
            </a:r>
            <a:endParaRPr sz="1400" b="0" spc="55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28" name="Picture 27" descr="quill-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914400"/>
            <a:ext cx="8572500" cy="4952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阅读，不止一种回应方式</a:t>
            </a:r>
            <a:endParaRPr sz="25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4" name="Picture 3" descr="回响卡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752600"/>
            <a:ext cx="3714750" cy="1555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3365586"/>
            <a:ext cx="37147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「这一段，说出了我说不出的感受。」</a:t>
            </a:r>
            <a:endParaRPr sz="11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6" name="Picture 5" descr="星链卡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1752600"/>
            <a:ext cx="3714750" cy="15355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7250" y="3345315"/>
            <a:ext cx="37147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「它让我想起了另一本书、另一段人生。」</a:t>
            </a:r>
            <a:endParaRPr sz="11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8" name="Picture 7" descr="诘问卡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3810000"/>
            <a:ext cx="3714750" cy="15704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50" y="5437613"/>
            <a:ext cx="37147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「对此我有不同见解。」</a:t>
            </a:r>
            <a:endParaRPr sz="11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10" name="Picture 9" descr="续章卡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3810000"/>
            <a:ext cx="3714750" cy="15516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7250" y="5418753"/>
            <a:ext cx="37147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「在故事停下的地方，我想继续写下去。」</a:t>
            </a:r>
            <a:endParaRPr sz="11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12" name="Picture 11" descr="四种铭文卡叠放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2705100"/>
            <a:ext cx="2762250" cy="1650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63000" y="4450726"/>
            <a:ext cx="276225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spc="65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回响 · 诘问 · 星链 · 续章</a:t>
            </a:r>
            <a:endParaRPr sz="1050" b="0" spc="65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14" name="Picture 13" descr="quill-f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" y="381000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1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四类铭文</a:t>
            </a:r>
            <a:endParaRPr sz="1100" b="0" spc="11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14400"/>
            <a:ext cx="12192000" cy="4952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5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每一次回应，都在点亮你的契印</a:t>
            </a:r>
            <a:endParaRPr sz="25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4" name="Picture 3" descr="契印-未点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5" y="1847850"/>
            <a:ext cx="1638300" cy="1638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43125" y="3619500"/>
            <a:ext cx="25908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95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初见 · 尚未落笔</a:t>
            </a:r>
            <a:endParaRPr sz="1200" b="0" spc="95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48225" y="2400300"/>
            <a:ext cx="552450" cy="257175"/>
          </a:xfrm>
          <a:prstGeom prst="rect">
            <a:avLst/>
          </a:prstGeom>
          <a:noFill/>
          <a:ln w="9525">
            <a:solidFill>
              <a:srgbClr val="AC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回响</a:t>
            </a:r>
            <a:endParaRPr sz="1050" b="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95925" y="2400300"/>
            <a:ext cx="552450" cy="257175"/>
          </a:xfrm>
          <a:prstGeom prst="rect">
            <a:avLst/>
          </a:prstGeom>
          <a:noFill/>
          <a:ln w="9525">
            <a:solidFill>
              <a:srgbClr val="AC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诘问</a:t>
            </a:r>
            <a:endParaRPr sz="1050" b="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43625" y="2400300"/>
            <a:ext cx="552450" cy="257175"/>
          </a:xfrm>
          <a:prstGeom prst="rect">
            <a:avLst/>
          </a:prstGeom>
          <a:noFill/>
          <a:ln w="9525">
            <a:solidFill>
              <a:srgbClr val="AC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星链</a:t>
            </a:r>
            <a:endParaRPr sz="1050" b="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91325" y="2400300"/>
            <a:ext cx="552450" cy="257175"/>
          </a:xfrm>
          <a:prstGeom prst="rect">
            <a:avLst/>
          </a:prstGeom>
          <a:noFill/>
          <a:ln w="9525">
            <a:solidFill>
              <a:srgbClr val="AC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续章</a:t>
            </a:r>
            <a:endParaRPr sz="1050" b="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381625" y="2857500"/>
            <a:ext cx="1428750" cy="0"/>
          </a:xfrm>
          <a:prstGeom prst="line">
            <a:avLst/>
          </a:prstGeom>
          <a:ln w="12700">
            <a:solidFill>
              <a:srgbClr val="AC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契印-点亮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25" y="1847850"/>
            <a:ext cx="1638300" cy="1638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58075" y="3619500"/>
            <a:ext cx="25908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95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四区俱明 · 轨迹留存</a:t>
            </a:r>
            <a:endParaRPr sz="1200" b="0" spc="95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4190999"/>
            <a:ext cx="12192000" cy="342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35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第一枚铭文落下，契印开始形成；四类铭文渐全，阅读轨迹被留下。</a:t>
            </a:r>
            <a:endParaRPr sz="135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629150"/>
            <a:ext cx="12192000" cy="41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我们没有用「积分」奖励阅读，</a:t>
            </a:r>
            <a:r>
              <a:rPr sz="1800" b="1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而是让思考本身成为进度。</a:t>
            </a:r>
            <a:endParaRPr sz="1800" b="1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15" name="Picture 14" descr="quill-f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600" y="381000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1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契印</a:t>
            </a:r>
            <a:endParaRPr sz="1100" b="0" spc="11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7749" y="876300"/>
            <a:ext cx="5334000" cy="6286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读完之后，写下你的终章</a:t>
            </a:r>
            <a:endParaRPr sz="33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47749" y="1619250"/>
            <a:ext cx="609601" cy="0"/>
          </a:xfrm>
          <a:prstGeom prst="line">
            <a:avLst/>
          </a:prstGeom>
          <a:ln w="19050">
            <a:solidFill>
              <a:srgbClr val="E0B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0" y="1148715"/>
            <a:ext cx="4286250" cy="4705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3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发布前的读后总结——读完后</a:t>
            </a:r>
            <a:r>
              <a:rPr sz="1300" b="0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写给这本书和作者的话</a:t>
            </a:r>
            <a:r>
              <a:rPr sz="13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。</a:t>
            </a:r>
            <a:endParaRPr sz="13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71700" y="1962150"/>
            <a:ext cx="7848600" cy="4311136"/>
          </a:xfrm>
          <a:prstGeom prst="rect">
            <a:avLst/>
          </a:prstGeom>
          <a:noFill/>
          <a:ln w="12700">
            <a:solidFill>
              <a:srgbClr val="6B5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读者终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1981199"/>
            <a:ext cx="7810499" cy="4258356"/>
          </a:xfrm>
          <a:prstGeom prst="rect">
            <a:avLst/>
          </a:prstGeom>
          <a:ln>
            <a:solidFill>
              <a:srgbClr val="AC8E4E"/>
            </a:solidFill>
          </a:ln>
        </p:spPr>
      </p:pic>
      <p:pic>
        <p:nvPicPr>
          <p:cNvPr id="8" name="Picture 7" descr="quill-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1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读者终章</a:t>
            </a:r>
            <a:endParaRPr sz="1100" b="0" spc="11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契名仪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47179"/>
            <a:ext cx="3048000" cy="4363640"/>
          </a:xfrm>
          <a:prstGeom prst="rect">
            <a:avLst/>
          </a:prstGeom>
          <a:ln>
            <a:solidFill>
              <a:srgbClr val="AC8E4E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048250" y="1600200"/>
            <a:ext cx="6000750" cy="1238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当阅读完成，</a:t>
            </a:r>
            <a:endParaRPr sz="33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33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迎来你的契名仪式</a:t>
            </a:r>
            <a:endParaRPr sz="33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48250" y="3048000"/>
            <a:ext cx="609600" cy="0"/>
          </a:xfrm>
          <a:prstGeom prst="line">
            <a:avLst/>
          </a:prstGeom>
          <a:ln w="19050">
            <a:solidFill>
              <a:srgbClr val="E0B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48250" y="3257550"/>
            <a:ext cx="6000750" cy="41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6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不是获得一个勋章，</a:t>
            </a:r>
            <a:r>
              <a:rPr sz="1600" b="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而是获得一个属于自己的版本。</a:t>
            </a:r>
            <a:endParaRPr sz="1600" b="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48250" y="3886200"/>
            <a:ext cx="5334000" cy="914400"/>
          </a:xfrm>
          <a:prstGeom prst="rect">
            <a:avLst/>
          </a:prstGeom>
          <a:solidFill>
            <a:srgbClr val="0F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原作者名 </a:t>
            </a:r>
            <a:r>
              <a:rPr sz="12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著</a:t>
            </a:r>
            <a:r>
              <a:rPr sz="12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 · 用户名 </a:t>
            </a:r>
            <a:r>
              <a:rPr sz="12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编注</a:t>
            </a:r>
            <a:r>
              <a:rPr sz="12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｜第 001 号覆写版本</a:t>
            </a:r>
            <a:endParaRPr sz="12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原作者的名字始终保留，你的名字从此进入封面。</a:t>
            </a:r>
            <a:endParaRPr sz="12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048250" y="3886200"/>
            <a:ext cx="0" cy="914400"/>
          </a:xfrm>
          <a:prstGeom prst="line">
            <a:avLst/>
          </a:prstGeom>
          <a:ln w="19050">
            <a:solidFill>
              <a:srgbClr val="AC8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quill-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381000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1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契名仪式</a:t>
            </a:r>
            <a:endParaRPr sz="1100" b="0" spc="11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I改编分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0" y="1826306"/>
            <a:ext cx="4381500" cy="3205387"/>
          </a:xfrm>
          <a:prstGeom prst="rect">
            <a:avLst/>
          </a:prstGeom>
          <a:ln>
            <a:solidFill>
              <a:srgbClr val="AC8E4E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047749" y="1428750"/>
            <a:ext cx="4991100" cy="1238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写下你的意图，</a:t>
            </a:r>
            <a:endParaRPr sz="33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33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让故事走向另一种可能</a:t>
            </a:r>
            <a:endParaRPr sz="33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047749" y="2876550"/>
            <a:ext cx="4583430" cy="0"/>
          </a:xfrm>
          <a:prstGeom prst="line">
            <a:avLst/>
          </a:prstGeom>
          <a:ln w="19050">
            <a:solidFill>
              <a:srgbClr val="E0B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47749" y="3105150"/>
            <a:ext cx="4991100" cy="104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4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选中一段原文，说出你希望发生的事——AI 结合原文、铭文与你的意图，</a:t>
            </a:r>
            <a:r>
              <a:rPr sz="1400" b="0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推演出平行的剧情分支</a:t>
            </a:r>
            <a:r>
              <a:rPr sz="14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。</a:t>
            </a:r>
            <a:endParaRPr sz="14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47749" y="4305300"/>
            <a:ext cx="0" cy="647700"/>
          </a:xfrm>
          <a:prstGeom prst="line">
            <a:avLst/>
          </a:prstGeom>
          <a:ln w="19050">
            <a:solidFill>
              <a:srgbClr val="AC8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57300" y="4305300"/>
            <a:ext cx="478155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200" b="1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原作永久保留。</a:t>
            </a:r>
            <a:r>
              <a:rPr sz="12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未经你确认的生成结果，不会进入个人覆写版本。</a:t>
            </a:r>
            <a:endParaRPr sz="12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9" name="Picture 8" descr="quill-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381000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1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AI改编</a:t>
            </a:r>
            <a:endParaRPr sz="1100" b="0" spc="11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990599"/>
            <a:ext cx="10287000" cy="7512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如果每个人都能留下自己的阅读版本？</a:t>
            </a:r>
            <a:endParaRPr sz="330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952500" y="1733550"/>
            <a:ext cx="609600" cy="0"/>
          </a:xfrm>
          <a:prstGeom prst="line">
            <a:avLst/>
          </a:prstGeom>
          <a:ln w="19050">
            <a:solidFill>
              <a:srgbClr val="E0B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52500" y="2457450"/>
            <a:ext cx="3149600" cy="0"/>
          </a:xfrm>
          <a:prstGeom prst="line">
            <a:avLst/>
          </a:prstGeom>
          <a:ln w="9525">
            <a:solidFill>
              <a:srgbClr val="6B5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2500" y="2686050"/>
            <a:ext cx="31496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1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01 · 个人</a:t>
            </a:r>
            <a:endParaRPr sz="1100" b="0" spc="11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2500" y="3009900"/>
            <a:ext cx="31496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一本书，变成一本</a:t>
            </a:r>
            <a:endParaRPr sz="19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sz="19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「属于我的阅读秘典」</a:t>
            </a:r>
            <a:endParaRPr sz="19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2500" y="3924300"/>
            <a:ext cx="314960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划线与感想不再散落——它们汇成契印、终章与署名封面。</a:t>
            </a:r>
            <a:endParaRPr sz="12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4521200" y="2457450"/>
            <a:ext cx="3149600" cy="0"/>
          </a:xfrm>
          <a:prstGeom prst="line">
            <a:avLst/>
          </a:prstGeom>
          <a:ln w="9525">
            <a:solidFill>
              <a:srgbClr val="6B5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21200" y="2686050"/>
            <a:ext cx="31496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1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02 · 人与人</a:t>
            </a:r>
            <a:endParaRPr sz="1100" b="0" spc="11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1200" y="3009900"/>
            <a:ext cx="31496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思考不再孤立，</a:t>
            </a:r>
            <a:endParaRPr sz="19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sz="19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与他人的回应彼此连接</a:t>
            </a:r>
            <a:endParaRPr sz="19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21200" y="3924300"/>
            <a:ext cx="314960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同一部原作之下，每个读者的版本都可以被看见。</a:t>
            </a:r>
            <a:endParaRPr sz="12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089900" y="2457450"/>
            <a:ext cx="3149600" cy="0"/>
          </a:xfrm>
          <a:prstGeom prst="line">
            <a:avLst/>
          </a:prstGeom>
          <a:ln w="9525">
            <a:solidFill>
              <a:srgbClr val="6B5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89900" y="2686050"/>
            <a:ext cx="31496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10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03 · 内容生态</a:t>
            </a:r>
            <a:endParaRPr sz="1100" b="0" spc="110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89900" y="3009900"/>
            <a:ext cx="31496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作品不止有原文，</a:t>
            </a:r>
            <a:endParaRPr sz="19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sz="19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还拥有读者的回应层</a:t>
            </a:r>
            <a:endParaRPr sz="19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89900" y="3924300"/>
            <a:ext cx="314960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原作之上，生长出一层不断延展的读者创作。</a:t>
            </a:r>
            <a:endParaRPr sz="1200" b="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17" name="Picture 16" descr="quill-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eck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333500"/>
            <a:ext cx="12192000" cy="15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3450" b="1">
                <a:solidFill>
                  <a:srgbClr val="EEE7D9"/>
                </a:solidFill>
                <a:latin typeface="Georgia" panose="02040502050405020303"/>
                <a:ea typeface="宋体" panose="02010600030101010101" pitchFamily="2" charset="-122"/>
              </a:rPr>
              <a:t>阅读结束了。</a:t>
            </a:r>
            <a:endParaRPr sz="3450" b="1">
              <a:solidFill>
                <a:srgbClr val="EEE7D9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 algn="ctr">
              <a:lnSpc>
                <a:spcPct val="160000"/>
              </a:lnSpc>
            </a:pPr>
            <a:r>
              <a:rPr sz="3450" b="1">
                <a:solidFill>
                  <a:srgbClr val="E0B861"/>
                </a:solidFill>
                <a:latin typeface="Georgia" panose="02040502050405020303"/>
                <a:ea typeface="宋体" panose="02010600030101010101" pitchFamily="2" charset="-122"/>
              </a:rPr>
              <a:t>覆写，才刚刚开始。</a:t>
            </a:r>
            <a:endParaRPr sz="3450" b="1">
              <a:solidFill>
                <a:srgbClr val="E0B861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pic>
        <p:nvPicPr>
          <p:cNvPr id="4" name="Picture 3" descr="magic-book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5" y="3543300"/>
            <a:ext cx="3143250" cy="2095499"/>
          </a:xfrm>
          <a:prstGeom prst="rect">
            <a:avLst/>
          </a:prstGeom>
        </p:spPr>
      </p:pic>
      <p:pic>
        <p:nvPicPr>
          <p:cNvPr id="5" name="Picture 4" descr="quill-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700" y="5238750"/>
            <a:ext cx="749300" cy="1123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457950"/>
            <a:ext cx="12192000" cy="2476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spc="80">
                <a:solidFill>
                  <a:srgbClr val="9BA5B8"/>
                </a:solidFill>
                <a:latin typeface="Georgia" panose="02040502050405020303"/>
                <a:ea typeface="宋体" panose="02010600030101010101" pitchFamily="2" charset="-122"/>
              </a:rPr>
              <a:t>覆写：故事新编 · 大连理工大学第二届黑客松</a:t>
            </a:r>
            <a:endParaRPr sz="1000" b="0" spc="80">
              <a:solidFill>
                <a:srgbClr val="9BA5B8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1239</Words>
  <Application>WPS 演示</Application>
  <PresentationFormat>On-screen Show (4:3)</PresentationFormat>
  <Paragraphs>198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Georgia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蔡欣羽</cp:lastModifiedBy>
  <cp:revision>2</cp:revision>
  <dcterms:created xsi:type="dcterms:W3CDTF">2013-01-27T09:14:00Z</dcterms:created>
  <dcterms:modified xsi:type="dcterms:W3CDTF">2026-08-28T14:41:50Z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187D739097AC4A2582F16EEC433A52E1_12</vt:lpwstr>
  </property>
</Properties>
</file>